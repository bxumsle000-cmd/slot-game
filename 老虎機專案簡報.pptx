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6" r:id="rId4"/>
    <p:sldId id="258" r:id="rId5"/>
    <p:sldId id="264" r:id="rId6"/>
    <p:sldId id="259" r:id="rId7"/>
    <p:sldId id="265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58" autoAdjust="0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1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9332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9215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406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video/desposit_false.mp4" TargetMode="External"/><Relationship Id="rId2" Type="http://schemas.openxmlformats.org/officeDocument/2006/relationships/hyperlink" Target="video/spin.mp4" TargetMode="Externa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video/hidden.mp4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hyperlink" Target="video/slow.mp4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video/dialog.mp4" TargetMode="External"/><Relationship Id="rId2" Type="http://schemas.openxmlformats.org/officeDocument/2006/relationships/hyperlink" Target="video/overflow%20hidden%20%20%20.mp4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video/betBtn.mp4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40484" y="914400"/>
            <a:ext cx="1417320" cy="1600200"/>
          </a:xfrm>
          <a:prstGeom prst="roundRect">
            <a:avLst>
              <a:gd name="adj" fmla="val 7742"/>
            </a:avLst>
          </a:prstGeom>
          <a:solidFill>
            <a:srgbClr val="0A1B33"/>
          </a:solidFill>
          <a:ln w="25400">
            <a:solidFill>
              <a:srgbClr val="FFC107"/>
            </a:solidFill>
            <a:prstDash val="solid"/>
          </a:ln>
          <a:effectLst>
            <a:outerShdw blurRad="127000" dist="50800" dir="5400000" algn="bl" rotWithShape="0">
              <a:srgbClr val="FFC107">
                <a:alpha val="3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2040484" y="914400"/>
            <a:ext cx="14173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7️⃣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3713836" y="914400"/>
            <a:ext cx="1417320" cy="1600200"/>
          </a:xfrm>
          <a:prstGeom prst="roundRect">
            <a:avLst>
              <a:gd name="adj" fmla="val 7742"/>
            </a:avLst>
          </a:prstGeom>
          <a:solidFill>
            <a:srgbClr val="0A1B33"/>
          </a:solidFill>
          <a:ln w="25400">
            <a:solidFill>
              <a:srgbClr val="FFC107"/>
            </a:solidFill>
            <a:prstDash val="solid"/>
          </a:ln>
          <a:effectLst>
            <a:outerShdw blurRad="127000" dist="50800" dir="5400000" algn="bl" rotWithShape="0">
              <a:srgbClr val="FFC107">
                <a:alpha val="3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3713836" y="914400"/>
            <a:ext cx="14173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🍒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5387188" y="914400"/>
            <a:ext cx="1417320" cy="1600200"/>
          </a:xfrm>
          <a:prstGeom prst="roundRect">
            <a:avLst>
              <a:gd name="adj" fmla="val 7742"/>
            </a:avLst>
          </a:prstGeom>
          <a:solidFill>
            <a:srgbClr val="0A1B33"/>
          </a:solidFill>
          <a:ln w="25400">
            <a:solidFill>
              <a:srgbClr val="FFC107"/>
            </a:solidFill>
            <a:prstDash val="solid"/>
          </a:ln>
          <a:effectLst>
            <a:outerShdw blurRad="127000" dist="50800" dir="5400000" algn="bl" rotWithShape="0">
              <a:srgbClr val="FFC107">
                <a:alpha val="3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387188" y="914400"/>
            <a:ext cx="14173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altLang="zh-TW" sz="4400" b="1" dirty="0">
                <a:solidFill>
                  <a:srgbClr val="FFC1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⭐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7060540" y="914400"/>
            <a:ext cx="1417320" cy="1600200"/>
          </a:xfrm>
          <a:prstGeom prst="roundRect">
            <a:avLst>
              <a:gd name="adj" fmla="val 7742"/>
            </a:avLst>
          </a:prstGeom>
          <a:solidFill>
            <a:srgbClr val="0A1B33"/>
          </a:solidFill>
          <a:ln w="25400">
            <a:solidFill>
              <a:srgbClr val="FFC107"/>
            </a:solidFill>
            <a:prstDash val="solid"/>
          </a:ln>
          <a:effectLst>
            <a:outerShdw blurRad="127000" dist="50800" dir="5400000" algn="bl" rotWithShape="0">
              <a:srgbClr val="FFC107">
                <a:alpha val="3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7060540" y="914400"/>
            <a:ext cx="14173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🍋</a:t>
            </a:r>
            <a:endParaRPr lang="en-US" sz="4400" dirty="0"/>
          </a:p>
        </p:txBody>
      </p:sp>
      <p:sp>
        <p:nvSpPr>
          <p:cNvPr id="10" name="Shape 8"/>
          <p:cNvSpPr/>
          <p:nvPr/>
        </p:nvSpPr>
        <p:spPr>
          <a:xfrm>
            <a:off x="8733892" y="914400"/>
            <a:ext cx="1417320" cy="1600200"/>
          </a:xfrm>
          <a:prstGeom prst="roundRect">
            <a:avLst>
              <a:gd name="adj" fmla="val 7742"/>
            </a:avLst>
          </a:prstGeom>
          <a:solidFill>
            <a:srgbClr val="0A1B33"/>
          </a:solidFill>
          <a:ln w="25400">
            <a:solidFill>
              <a:srgbClr val="FFC107"/>
            </a:solidFill>
            <a:prstDash val="solid"/>
          </a:ln>
          <a:effectLst>
            <a:outerShdw blurRad="127000" dist="50800" dir="5400000" algn="bl" rotWithShape="0">
              <a:srgbClr val="FFC107">
                <a:alpha val="3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8733892" y="914400"/>
            <a:ext cx="14173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305" y="3337561"/>
            <a:ext cx="12191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C1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⭐ GOLD SLOT ⭐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0" y="4601361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 err="1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老虎機網頁</a:t>
            </a:r>
            <a:r>
              <a:rPr lang="en-US" sz="24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CSS / JS </a:t>
            </a:r>
            <a:r>
              <a:rPr lang="en-US" sz="2400" dirty="0" err="1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專案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C1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動機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 err="1">
                <a:solidFill>
                  <a:srgbClr val="F5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為什麼選「老虎機」來</a:t>
            </a:r>
            <a:r>
              <a:rPr lang="zh-TW" altLang="en-US" sz="2000" i="1" dirty="0">
                <a:solidFill>
                  <a:srgbClr val="F5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展示</a:t>
            </a:r>
            <a:r>
              <a:rPr lang="en-US" sz="2000" i="1" dirty="0">
                <a:solidFill>
                  <a:srgbClr val="F5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和 JS？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2450592"/>
            <a:ext cx="777240" cy="777240"/>
          </a:xfrm>
          <a:prstGeom prst="ellipse">
            <a:avLst/>
          </a:prstGeom>
          <a:solidFill>
            <a:srgbClr val="FFC107"/>
          </a:solidFill>
          <a:ln/>
          <a:effectLst>
            <a:outerShdw blurRad="76200" dist="254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731520" y="245059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70" dirty="0">
                <a:solidFill>
                  <a:srgbClr val="020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</a:t>
            </a:r>
            <a:endParaRPr lang="en-US" sz="1870" dirty="0"/>
          </a:p>
        </p:txBody>
      </p:sp>
      <p:sp>
        <p:nvSpPr>
          <p:cNvPr id="6" name="Text 4"/>
          <p:cNvSpPr/>
          <p:nvPr/>
        </p:nvSpPr>
        <p:spPr>
          <a:xfrm>
            <a:off x="1783080" y="2432304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畫面元素豐富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28346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 err="1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轉輪、下注、Spin</a:t>
            </a:r>
            <a:r>
              <a:rPr lang="en-US" sz="1500" dirty="0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按鈕、彈出式賠付表</a:t>
            </a:r>
            <a:r>
              <a:rPr lang="en-US" sz="1500" dirty="0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14968"/>
            <a:ext cx="777240" cy="777240"/>
          </a:xfrm>
          <a:prstGeom prst="ellipse">
            <a:avLst/>
          </a:prstGeom>
          <a:solidFill>
            <a:srgbClr val="FFC107"/>
          </a:solidFill>
          <a:ln/>
          <a:effectLst>
            <a:outerShdw blurRad="76200" dist="254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731520" y="411496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70" dirty="0">
                <a:solidFill>
                  <a:srgbClr val="020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🖱️</a:t>
            </a:r>
            <a:endParaRPr lang="en-US" sz="1870" dirty="0"/>
          </a:p>
        </p:txBody>
      </p:sp>
      <p:sp>
        <p:nvSpPr>
          <p:cNvPr id="14" name="Text 12"/>
          <p:cNvSpPr/>
          <p:nvPr/>
        </p:nvSpPr>
        <p:spPr>
          <a:xfrm>
            <a:off x="1783080" y="40966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有互動與規則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783080" y="4499016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下注、Spin、判斷中獎、更新餘額 —— 練</a:t>
            </a:r>
            <a:r>
              <a:rPr lang="zh-TW" altLang="en-US" sz="1500" dirty="0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習</a:t>
            </a:r>
            <a:r>
              <a:rPr lang="en-US" sz="1500" dirty="0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與 DOM 操作。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4F91808A-E238-4862-9F63-4328BACC6A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85614"/>
            <a:ext cx="12192000" cy="4759228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9907D68A-FC43-4E13-A35E-5BD387F4C61C}"/>
              </a:ext>
            </a:extLst>
          </p:cNvPr>
          <p:cNvSpPr/>
          <p:nvPr/>
        </p:nvSpPr>
        <p:spPr>
          <a:xfrm>
            <a:off x="287742" y="158972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4000" b="1" dirty="0">
                <a:solidFill>
                  <a:srgbClr val="FFC107"/>
                </a:solidFill>
                <a:latin typeface="Cambria" pitchFamily="34" charset="0"/>
              </a:rPr>
              <a:t>遊戲規則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8419152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0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C1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網頁設計 ①　整體架構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194560"/>
            <a:ext cx="5166360" cy="3200400"/>
          </a:xfrm>
          <a:prstGeom prst="roundRect">
            <a:avLst>
              <a:gd name="adj" fmla="val 2857"/>
            </a:avLst>
          </a:prstGeom>
          <a:solidFill>
            <a:srgbClr val="0A1B33"/>
          </a:solidFill>
          <a:ln w="19050">
            <a:solidFill>
              <a:srgbClr val="FFC107"/>
            </a:solidFill>
            <a:prstDash val="solid"/>
          </a:ln>
          <a:effectLst>
            <a:outerShdw blurRad="101600" dist="254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1005840" y="245059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 </a:t>
            </a:r>
            <a:r>
              <a:rPr lang="en-US" sz="2000" b="1" dirty="0" err="1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前端（HTML</a:t>
            </a:r>
            <a:r>
              <a:rPr lang="zh-TW" altLang="en-US" sz="20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</a:t>
            </a:r>
            <a:r>
              <a:rPr lang="en-US" altLang="zh-TW" sz="20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</a:t>
            </a:r>
            <a:r>
              <a:rPr lang="zh-TW" altLang="en-US" sz="20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</a:t>
            </a:r>
            <a:r>
              <a:rPr lang="en-US" altLang="zh-TW" sz="20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</a:t>
            </a:r>
            <a:r>
              <a:rPr lang="en-US" sz="20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310896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排版 + Bootstrap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做轉輪窗口與轉動動畫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</a:t>
            </a:r>
            <a:r>
              <a:rPr lang="en-US" sz="1500" dirty="0" err="1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點擊、呼叫</a:t>
            </a:r>
            <a:r>
              <a:rPr lang="en-US" sz="15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err="1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把回傳結果</a:t>
            </a:r>
            <a:r>
              <a:rPr lang="zh-TW" altLang="en-US" sz="15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更新於</a:t>
            </a:r>
            <a:r>
              <a:rPr lang="en-US" sz="1500" dirty="0" err="1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畫面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55080" y="2194560"/>
            <a:ext cx="5166360" cy="3200400"/>
          </a:xfrm>
          <a:prstGeom prst="roundRect">
            <a:avLst>
              <a:gd name="adj" fmla="val 2857"/>
            </a:avLst>
          </a:prstGeom>
          <a:solidFill>
            <a:srgbClr val="0A1B33"/>
          </a:solidFill>
          <a:ln w="19050">
            <a:solidFill>
              <a:srgbClr val="F5D77A"/>
            </a:solidFill>
            <a:prstDash val="solid"/>
          </a:ln>
          <a:effectLst>
            <a:outerShdw blurRad="101600" dist="254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zh-TW" altLang="en-US" dirty="0"/>
          </a:p>
        </p:txBody>
      </p:sp>
      <p:sp>
        <p:nvSpPr>
          <p:cNvPr id="8" name="Text 6"/>
          <p:cNvSpPr/>
          <p:nvPr/>
        </p:nvSpPr>
        <p:spPr>
          <a:xfrm>
            <a:off x="6675120" y="245059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</a:t>
            </a:r>
            <a:r>
              <a:rPr lang="en-US" sz="2000" b="1" dirty="0" err="1">
                <a:solidFill>
                  <a:srgbClr val="F5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後端（</a:t>
            </a:r>
            <a:r>
              <a:rPr lang="en-US" altLang="zh-TW" sz="2000" b="1" dirty="0" err="1">
                <a:solidFill>
                  <a:srgbClr val="F5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r>
              <a:rPr lang="en-US" sz="2000" b="1" dirty="0">
                <a:solidFill>
                  <a:srgbClr val="F5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720840" y="310896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err="1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</a:t>
            </a:r>
            <a:r>
              <a:rPr lang="en-US" sz="15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 /api/deposit 餘額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 POST /api/spin </a:t>
            </a:r>
            <a:r>
              <a:rPr lang="zh-TW" altLang="en-US" sz="15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</a:t>
            </a:r>
            <a:r>
              <a:rPr lang="en-US" sz="1500" dirty="0" err="1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zh-TW" altLang="en-US" sz="15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</a:t>
            </a:r>
            <a:r>
              <a:rPr lang="en-US" sz="1500" dirty="0" err="1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算盤面與中獎金額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58064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流程：點 Spin → 前端 fetch /api/spin → 後端回傳盤面與贏分 → 前端播動畫 → 更新餘額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5156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FFC107"/>
                </a:solidFill>
                <a:latin typeface="Cambria"/>
              </a:rPr>
              <a:t>網頁設計 ②　按下 Spin 後的流程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5156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TW" altLang="en-US" sz="1700" b="0" i="1" dirty="0">
                <a:solidFill>
                  <a:srgbClr val="F5D77A"/>
                </a:solidFill>
                <a:latin typeface="Calibri"/>
              </a:rPr>
              <a:t>初始值設定</a:t>
            </a:r>
            <a:r>
              <a:rPr lang="en-US" altLang="zh-TW" sz="1700" b="0" i="1" dirty="0">
                <a:solidFill>
                  <a:srgbClr val="F5D77A"/>
                </a:solidFill>
                <a:latin typeface="Calibri"/>
              </a:rPr>
              <a:t>1000</a:t>
            </a:r>
            <a:r>
              <a:rPr lang="zh-TW" altLang="en-US" sz="1700" b="0" i="1" dirty="0">
                <a:solidFill>
                  <a:srgbClr val="F5D77A"/>
                </a:solidFill>
                <a:latin typeface="Calibri"/>
              </a:rPr>
              <a:t>，每次重整網頁重置</a:t>
            </a:r>
            <a:endParaRPr lang="en-US" altLang="zh-TW" sz="1700" b="0" i="1" dirty="0">
              <a:solidFill>
                <a:srgbClr val="F5D77A"/>
              </a:solidFill>
              <a:latin typeface="Calibri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1051560" y="2240280"/>
            <a:ext cx="0" cy="3657600"/>
          </a:xfrm>
          <a:prstGeom prst="line">
            <a:avLst/>
          </a:prstGeom>
          <a:ln w="19050">
            <a:solidFill>
              <a:srgbClr val="F5D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822960" y="2011680"/>
            <a:ext cx="457200" cy="45720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500" b="1">
                <a:solidFill>
                  <a:srgbClr val="020E20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113178"/>
            <a:ext cx="10332720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zh-TW" altLang="en-US" sz="1650" b="1" dirty="0">
                <a:solidFill>
                  <a:srgbClr val="E8ECF3"/>
                </a:solidFill>
                <a:latin typeface="Calibri"/>
              </a:rPr>
              <a:t>按下</a:t>
            </a:r>
            <a:r>
              <a:rPr lang="en-US" altLang="zh-TW" sz="1650" b="1" dirty="0">
                <a:solidFill>
                  <a:srgbClr val="E8ECF3"/>
                </a:solidFill>
                <a:latin typeface="Calibri"/>
              </a:rPr>
              <a:t>Spin</a:t>
            </a:r>
            <a:r>
              <a:rPr sz="1650" b="1" i="0" dirty="0">
                <a:solidFill>
                  <a:srgbClr val="E8ECF3"/>
                </a:solidFill>
                <a:latin typeface="Calibri"/>
              </a:rPr>
              <a:t>　</a:t>
            </a:r>
            <a:r>
              <a:rPr lang="zh-TW" altLang="en-US" sz="1400" b="0" i="0" dirty="0">
                <a:solidFill>
                  <a:srgbClr val="9BA7BC"/>
                </a:solidFill>
                <a:latin typeface="Calibri"/>
              </a:rPr>
              <a:t>開始程式</a:t>
            </a:r>
            <a:r>
              <a:rPr sz="1400" b="0" i="0" dirty="0">
                <a:solidFill>
                  <a:srgbClr val="9BA7BC"/>
                </a:solidFill>
                <a:latin typeface="Calibri"/>
              </a:rPr>
              <a:t>。</a:t>
            </a:r>
            <a:r>
              <a:rPr lang="zh-TW" altLang="en-US" sz="1400" dirty="0">
                <a:solidFill>
                  <a:srgbClr val="9BA7BC"/>
                </a:solidFill>
              </a:rPr>
              <a:t> </a:t>
            </a:r>
            <a:r>
              <a:rPr lang="zh-TW" altLang="en-US" sz="1400" dirty="0">
                <a:solidFill>
                  <a:schemeClr val="bg1"/>
                </a:solidFill>
                <a:hlinkClick r:id="rId2" action="ppaction://hlinkfile"/>
              </a:rPr>
              <a:t>▶</a:t>
            </a:r>
            <a:endParaRPr sz="1400" b="0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7" name="Oval 6"/>
          <p:cNvSpPr/>
          <p:nvPr/>
        </p:nvSpPr>
        <p:spPr>
          <a:xfrm>
            <a:off x="822960" y="2743200"/>
            <a:ext cx="457200" cy="45720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500" b="1" dirty="0">
                <a:solidFill>
                  <a:srgbClr val="020E20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844698"/>
            <a:ext cx="10332720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 i="0" dirty="0" err="1">
                <a:solidFill>
                  <a:srgbClr val="E8ECF3"/>
                </a:solidFill>
                <a:latin typeface="Calibri"/>
              </a:rPr>
              <a:t>呼叫後端</a:t>
            </a:r>
            <a:r>
              <a:rPr sz="1650" b="1" i="0" dirty="0">
                <a:solidFill>
                  <a:srgbClr val="E8ECF3"/>
                </a:solidFill>
                <a:latin typeface="Calibri"/>
              </a:rPr>
              <a:t>　</a:t>
            </a:r>
            <a:r>
              <a:rPr sz="1400" b="0" i="0" dirty="0">
                <a:solidFill>
                  <a:srgbClr val="9BA7BC"/>
                </a:solidFill>
                <a:latin typeface="Calibri"/>
              </a:rPr>
              <a:t>await fetch POST /</a:t>
            </a:r>
            <a:r>
              <a:rPr sz="1400" b="0" i="0" dirty="0" err="1">
                <a:solidFill>
                  <a:srgbClr val="9BA7BC"/>
                </a:solidFill>
                <a:latin typeface="Calibri"/>
              </a:rPr>
              <a:t>api</a:t>
            </a:r>
            <a:r>
              <a:rPr sz="1400" b="0" i="0" dirty="0">
                <a:solidFill>
                  <a:srgbClr val="9BA7BC"/>
                </a:solidFill>
                <a:latin typeface="Calibri"/>
              </a:rPr>
              <a:t>/</a:t>
            </a:r>
            <a:r>
              <a:rPr sz="1400" b="0" i="0" dirty="0" err="1">
                <a:solidFill>
                  <a:srgbClr val="9BA7BC"/>
                </a:solidFill>
                <a:latin typeface="Calibri"/>
              </a:rPr>
              <a:t>spin?betAmount</a:t>
            </a:r>
            <a:r>
              <a:rPr sz="1400" b="0" i="0" dirty="0">
                <a:solidFill>
                  <a:srgbClr val="9BA7BC"/>
                </a:solidFill>
                <a:latin typeface="Calibri"/>
              </a:rPr>
              <a:t>=… ，</a:t>
            </a:r>
            <a:r>
              <a:rPr sz="1400" b="0" i="0" dirty="0" err="1">
                <a:solidFill>
                  <a:srgbClr val="9BA7BC"/>
                </a:solidFill>
                <a:latin typeface="Calibri"/>
              </a:rPr>
              <a:t>把下注金額送出去</a:t>
            </a:r>
            <a:r>
              <a:rPr lang="zh-TW" altLang="en-US" sz="1400" b="0" i="0" dirty="0">
                <a:solidFill>
                  <a:srgbClr val="9BA7BC"/>
                </a:solidFill>
                <a:latin typeface="Calibri"/>
              </a:rPr>
              <a:t>，並收到結果</a:t>
            </a:r>
            <a:r>
              <a:rPr sz="1400" b="0" i="0" dirty="0">
                <a:solidFill>
                  <a:srgbClr val="9BA7BC"/>
                </a:solidFill>
                <a:latin typeface="Calibri"/>
              </a:rPr>
              <a:t>。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3474720"/>
            <a:ext cx="457200" cy="45720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500" b="1" dirty="0">
                <a:solidFill>
                  <a:srgbClr val="020E20"/>
                </a:solidFill>
                <a:latin typeface="Calibri"/>
              </a:rPr>
              <a:t>3</a:t>
            </a:r>
            <a:endParaRPr sz="1500" b="1" dirty="0">
              <a:solidFill>
                <a:srgbClr val="020E20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08760" y="3576218"/>
            <a:ext cx="10332720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zh-TW" altLang="en-US" sz="1650" b="1" i="0" dirty="0">
                <a:solidFill>
                  <a:srgbClr val="E8ECF3"/>
                </a:solidFill>
                <a:latin typeface="Calibri"/>
              </a:rPr>
              <a:t>扣除下注金額</a:t>
            </a:r>
            <a:r>
              <a:rPr sz="1650" b="1" i="0" dirty="0">
                <a:solidFill>
                  <a:srgbClr val="E8ECF3"/>
                </a:solidFill>
                <a:latin typeface="Calibri"/>
              </a:rPr>
              <a:t>　</a:t>
            </a:r>
            <a:r>
              <a:rPr sz="1400" b="0" i="0" dirty="0" err="1">
                <a:solidFill>
                  <a:srgbClr val="9BA7BC"/>
                </a:solidFill>
                <a:latin typeface="Calibri"/>
              </a:rPr>
              <a:t>畫面餘額先</a:t>
            </a:r>
            <a:r>
              <a:rPr lang="zh-TW" altLang="en-US" sz="1400" b="0" i="0" dirty="0">
                <a:solidFill>
                  <a:srgbClr val="9BA7BC"/>
                </a:solidFill>
                <a:latin typeface="Calibri"/>
              </a:rPr>
              <a:t>扣</a:t>
            </a:r>
            <a:r>
              <a:rPr sz="1400" b="0" i="0" dirty="0">
                <a:solidFill>
                  <a:srgbClr val="9BA7BC"/>
                </a:solidFill>
                <a:latin typeface="Calibri"/>
              </a:rPr>
              <a:t>，</a:t>
            </a:r>
            <a:r>
              <a:rPr sz="1400" b="0" i="0" dirty="0" err="1">
                <a:solidFill>
                  <a:srgbClr val="9BA7BC"/>
                </a:solidFill>
                <a:latin typeface="Calibri"/>
              </a:rPr>
              <a:t>讓玩家看到</a:t>
            </a:r>
            <a:r>
              <a:rPr lang="zh-TW" altLang="en-US" sz="1400" b="0" i="0" dirty="0">
                <a:solidFill>
                  <a:srgbClr val="9BA7BC"/>
                </a:solidFill>
                <a:latin typeface="Calibri"/>
              </a:rPr>
              <a:t>下</a:t>
            </a:r>
            <a:r>
              <a:rPr sz="1400" b="0" i="0" dirty="0" err="1">
                <a:solidFill>
                  <a:srgbClr val="9BA7BC"/>
                </a:solidFill>
                <a:latin typeface="Calibri"/>
              </a:rPr>
              <a:t>注金</a:t>
            </a:r>
            <a:r>
              <a:rPr lang="zh-TW" altLang="en-US" sz="1400" b="0" i="0" dirty="0">
                <a:solidFill>
                  <a:srgbClr val="9BA7BC"/>
                </a:solidFill>
                <a:latin typeface="Calibri"/>
              </a:rPr>
              <a:t>額</a:t>
            </a:r>
            <a:r>
              <a:rPr sz="1400" b="0" i="0" dirty="0" err="1">
                <a:solidFill>
                  <a:srgbClr val="9BA7BC"/>
                </a:solidFill>
                <a:latin typeface="Calibri"/>
              </a:rPr>
              <a:t>已被扣掉</a:t>
            </a:r>
            <a:r>
              <a:rPr lang="zh-TW" altLang="en-US" sz="1400" b="0" i="0" dirty="0">
                <a:solidFill>
                  <a:srgbClr val="9BA7BC"/>
                </a:solidFill>
                <a:latin typeface="Calibri"/>
              </a:rPr>
              <a:t> </a:t>
            </a:r>
            <a:r>
              <a:rPr sz="1400" b="0" i="0" dirty="0">
                <a:solidFill>
                  <a:srgbClr val="9BA7BC"/>
                </a:solidFill>
                <a:latin typeface="Calibri"/>
              </a:rPr>
              <a:t>。</a:t>
            </a:r>
            <a:r>
              <a:rPr lang="en-US" altLang="zh-TW" sz="1400" b="0" i="0" dirty="0">
                <a:solidFill>
                  <a:srgbClr val="9BA7BC"/>
                </a:solidFill>
                <a:latin typeface="Calibri"/>
              </a:rPr>
              <a:t>(</a:t>
            </a:r>
            <a:r>
              <a:rPr lang="zh-TW" altLang="en-US" sz="1400" b="0" i="0" dirty="0">
                <a:solidFill>
                  <a:srgbClr val="9BA7BC"/>
                </a:solidFill>
                <a:latin typeface="Calibri"/>
              </a:rPr>
              <a:t>下注金額最少</a:t>
            </a:r>
            <a:r>
              <a:rPr lang="en-US" altLang="zh-TW" sz="1400" b="0" i="0" dirty="0">
                <a:solidFill>
                  <a:srgbClr val="9BA7BC"/>
                </a:solidFill>
                <a:latin typeface="Calibri"/>
              </a:rPr>
              <a:t>50</a:t>
            </a:r>
            <a:r>
              <a:rPr lang="zh-TW" altLang="en-US" sz="1400" b="0" i="0" dirty="0">
                <a:solidFill>
                  <a:srgbClr val="9BA7BC"/>
                </a:solidFill>
                <a:latin typeface="Calibri"/>
              </a:rPr>
              <a:t>，最多</a:t>
            </a:r>
            <a:r>
              <a:rPr lang="en-US" altLang="zh-TW" sz="1400" b="0" i="0" dirty="0">
                <a:solidFill>
                  <a:srgbClr val="9BA7BC"/>
                </a:solidFill>
                <a:latin typeface="Calibri"/>
              </a:rPr>
              <a:t>500</a:t>
            </a:r>
            <a:r>
              <a:rPr lang="zh-TW" altLang="en-US" sz="1400" b="0" i="0" dirty="0">
                <a:solidFill>
                  <a:srgbClr val="9BA7BC"/>
                </a:solidFill>
                <a:latin typeface="Calibri"/>
              </a:rPr>
              <a:t>，可調整。</a:t>
            </a:r>
            <a:r>
              <a:rPr lang="en-US" altLang="zh-TW" sz="1400" b="0" i="0" dirty="0">
                <a:solidFill>
                  <a:srgbClr val="9BA7BC"/>
                </a:solidFill>
                <a:latin typeface="Calibri"/>
              </a:rPr>
              <a:t>)</a:t>
            </a:r>
            <a:r>
              <a:rPr lang="zh-TW" altLang="en-US" sz="1400" b="0" i="0" dirty="0">
                <a:solidFill>
                  <a:srgbClr val="9BA7BC"/>
                </a:solidFill>
                <a:latin typeface="Calibri"/>
              </a:rPr>
              <a:t>  </a:t>
            </a:r>
            <a:endParaRPr sz="1400" b="0" i="0" dirty="0">
              <a:solidFill>
                <a:srgbClr val="9BA7BC"/>
              </a:solidFill>
              <a:latin typeface="Calibri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822960" y="4206240"/>
            <a:ext cx="457200" cy="45720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500" b="1" dirty="0">
                <a:solidFill>
                  <a:srgbClr val="020E20"/>
                </a:solidFill>
                <a:latin typeface="Calibri"/>
              </a:rPr>
              <a:t>4</a:t>
            </a:r>
            <a:endParaRPr sz="1500" b="1" dirty="0">
              <a:solidFill>
                <a:srgbClr val="020E20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508760" y="4307738"/>
            <a:ext cx="10332720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50" b="1" i="0" dirty="0" err="1">
                <a:solidFill>
                  <a:srgbClr val="E8ECF3"/>
                </a:solidFill>
                <a:latin typeface="Calibri"/>
              </a:rPr>
              <a:t>播轉輪動畫</a:t>
            </a:r>
            <a:r>
              <a:rPr sz="1650" b="1" i="0" dirty="0">
                <a:solidFill>
                  <a:srgbClr val="E8ECF3"/>
                </a:solidFill>
                <a:latin typeface="Calibri"/>
              </a:rPr>
              <a:t>　</a:t>
            </a:r>
            <a:r>
              <a:rPr sz="1400" b="0" i="0" dirty="0" err="1">
                <a:solidFill>
                  <a:srgbClr val="9BA7BC"/>
                </a:solidFill>
                <a:latin typeface="Calibri"/>
              </a:rPr>
              <a:t>五輪依序</a:t>
            </a:r>
            <a:r>
              <a:rPr lang="zh-TW" altLang="en-US" sz="1400" b="0" i="0" dirty="0">
                <a:solidFill>
                  <a:srgbClr val="9BA7BC"/>
                </a:solidFill>
                <a:latin typeface="Calibri"/>
              </a:rPr>
              <a:t>跑動畫</a:t>
            </a:r>
            <a:r>
              <a:rPr sz="1400" b="0" i="0" dirty="0">
                <a:solidFill>
                  <a:srgbClr val="9BA7BC"/>
                </a:solidFill>
                <a:latin typeface="Calibri"/>
              </a:rPr>
              <a:t>。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937760"/>
            <a:ext cx="457200" cy="45720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500" b="1" dirty="0">
                <a:solidFill>
                  <a:srgbClr val="020E20"/>
                </a:solidFill>
                <a:latin typeface="Calibri"/>
              </a:rPr>
              <a:t>5</a:t>
            </a:r>
            <a:endParaRPr sz="1500" b="1" dirty="0">
              <a:solidFill>
                <a:srgbClr val="020E20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508760" y="5039258"/>
            <a:ext cx="10332720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50" b="1" i="0" dirty="0" err="1">
                <a:solidFill>
                  <a:srgbClr val="E8ECF3"/>
                </a:solidFill>
                <a:latin typeface="Calibri"/>
              </a:rPr>
              <a:t>結算分數</a:t>
            </a:r>
            <a:r>
              <a:rPr sz="1650" b="1" i="0" dirty="0">
                <a:solidFill>
                  <a:srgbClr val="E8ECF3"/>
                </a:solidFill>
                <a:latin typeface="Calibri"/>
              </a:rPr>
              <a:t>　</a:t>
            </a:r>
            <a:r>
              <a:rPr sz="1400" b="0" i="0" dirty="0" err="1">
                <a:solidFill>
                  <a:srgbClr val="9BA7BC"/>
                </a:solidFill>
                <a:latin typeface="Calibri"/>
              </a:rPr>
              <a:t>顯示本局贏分</a:t>
            </a:r>
            <a:r>
              <a:rPr sz="1400" b="0" i="0" dirty="0">
                <a:solidFill>
                  <a:srgbClr val="9BA7BC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9BA7BC"/>
                </a:solidFill>
                <a:latin typeface="Calibri"/>
              </a:rPr>
              <a:t>win，再更新成最終</a:t>
            </a:r>
            <a:r>
              <a:rPr lang="zh-TW" altLang="en-US" sz="1400" dirty="0">
                <a:solidFill>
                  <a:srgbClr val="9BA7BC"/>
                </a:solidFill>
              </a:rPr>
              <a:t>的餘額</a:t>
            </a:r>
            <a:r>
              <a:rPr sz="1400" b="0" i="0" dirty="0">
                <a:solidFill>
                  <a:srgbClr val="9BA7BC"/>
                </a:solidFill>
                <a:latin typeface="Calibri"/>
              </a:rPr>
              <a:t>。</a:t>
            </a:r>
            <a:r>
              <a:rPr lang="zh-TW" altLang="en-US" sz="1400" dirty="0">
                <a:solidFill>
                  <a:srgbClr val="9BA7BC"/>
                </a:solidFill>
              </a:rPr>
              <a:t> </a:t>
            </a:r>
            <a:r>
              <a:rPr lang="zh-TW" altLang="en-US" sz="1400" dirty="0">
                <a:solidFill>
                  <a:schemeClr val="bg1"/>
                </a:solidFill>
                <a:hlinkClick r:id="rId2" action="ppaction://hlinkfile"/>
              </a:rPr>
              <a:t>▶</a:t>
            </a:r>
            <a:endParaRPr sz="1400" b="0" i="0" dirty="0">
              <a:solidFill>
                <a:srgbClr val="9BA7BC"/>
              </a:solidFill>
              <a:latin typeface="Calibri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822960" y="5669280"/>
            <a:ext cx="457200" cy="45720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500" b="1" dirty="0">
                <a:solidFill>
                  <a:srgbClr val="020E20"/>
                </a:solidFill>
                <a:latin typeface="Calibri"/>
              </a:rPr>
              <a:t>6</a:t>
            </a:r>
            <a:endParaRPr sz="1500" b="1" dirty="0">
              <a:solidFill>
                <a:srgbClr val="020E20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508760" y="5770778"/>
            <a:ext cx="10332720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50" b="1" i="0" dirty="0" err="1">
                <a:solidFill>
                  <a:srgbClr val="E8ECF3"/>
                </a:solidFill>
                <a:latin typeface="Calibri"/>
              </a:rPr>
              <a:t>顯示訊息</a:t>
            </a:r>
            <a:r>
              <a:rPr sz="1650" b="1" i="0" dirty="0">
                <a:solidFill>
                  <a:srgbClr val="E8ECF3"/>
                </a:solidFill>
                <a:latin typeface="Calibri"/>
              </a:rPr>
              <a:t>　</a:t>
            </a:r>
            <a:r>
              <a:rPr sz="1400" b="0" i="0" dirty="0" err="1">
                <a:solidFill>
                  <a:srgbClr val="9BA7BC"/>
                </a:solidFill>
                <a:latin typeface="Calibri"/>
              </a:rPr>
              <a:t>中獎顯示「恭喜中獎」否則「再接再厲</a:t>
            </a:r>
            <a:r>
              <a:rPr lang="zh-TW" altLang="en-US" sz="1400" b="0" i="0" dirty="0">
                <a:solidFill>
                  <a:srgbClr val="9BA7BC"/>
                </a:solidFill>
                <a:latin typeface="Calibri"/>
              </a:rPr>
              <a:t>。如果餘額不夠也會顯示餘額不足。  </a:t>
            </a:r>
            <a:r>
              <a:rPr lang="zh-TW" altLang="en-US" sz="1400" dirty="0">
                <a:solidFill>
                  <a:schemeClr val="bg1"/>
                </a:solidFill>
                <a:hlinkClick r:id="rId3" action="ppaction://hlinkfile"/>
              </a:rPr>
              <a:t>▶</a:t>
            </a:r>
            <a:endParaRPr sz="1400" b="0" i="0" dirty="0">
              <a:solidFill>
                <a:srgbClr val="9BA7BC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317346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0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b="1" dirty="0" err="1">
                <a:solidFill>
                  <a:srgbClr val="FFC1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網頁設計</a:t>
            </a:r>
            <a:r>
              <a:rPr lang="en-US" sz="3600" b="1" dirty="0">
                <a:solidFill>
                  <a:srgbClr val="FFC1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zh-TW" altLang="en-US" dirty="0"/>
              <a:t> </a:t>
            </a:r>
            <a:r>
              <a:rPr lang="zh-TW" altLang="en-US" sz="3600" b="1" dirty="0">
                <a:solidFill>
                  <a:srgbClr val="FFC107"/>
                </a:solidFill>
                <a:latin typeface="Cambria" pitchFamily="34" charset="0"/>
              </a:rPr>
              <a:t>③ </a:t>
            </a:r>
            <a:r>
              <a:rPr lang="en-US" sz="3600" b="1" dirty="0">
                <a:solidFill>
                  <a:srgbClr val="FFC1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　</a:t>
            </a:r>
            <a:r>
              <a:rPr lang="en-US" sz="3600" b="1" dirty="0" err="1">
                <a:solidFill>
                  <a:srgbClr val="FFC1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轉輪動畫原理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2148840"/>
            <a:ext cx="548640" cy="548640"/>
          </a:xfrm>
          <a:prstGeom prst="ellipse">
            <a:avLst/>
          </a:prstGeom>
          <a:solidFill>
            <a:srgbClr val="FFC107"/>
          </a:solidFill>
          <a:ln/>
          <a:effectLst>
            <a:outerShdw blurRad="76200" dist="254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731520" y="2148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020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1463040" y="210312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7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加入隨機符號 </a:t>
            </a:r>
            <a:r>
              <a:rPr lang="en-US" altLang="zh-TW" sz="17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</a:t>
            </a:r>
            <a:r>
              <a:rPr lang="zh-TW" altLang="en-US" sz="17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overflow: hidden</a:t>
            </a:r>
            <a:r>
              <a:rPr lang="zh-TW" altLang="en-US" sz="17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zh-TW" altLang="en-US" dirty="0">
                <a:solidFill>
                  <a:srgbClr val="9BA7BC"/>
                </a:solidFill>
              </a:rPr>
              <a:t> </a:t>
            </a:r>
            <a:r>
              <a:rPr lang="zh-TW" altLang="en-US" dirty="0">
                <a:solidFill>
                  <a:schemeClr val="bg1"/>
                </a:solidFill>
                <a:hlinkClick r:id="rId3" action="ppaction://hlinkfile"/>
              </a:rPr>
              <a:t>▶</a:t>
            </a:r>
            <a:r>
              <a:rPr lang="zh-TW" altLang="en-US" sz="17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463040" y="2478024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reel-window 固定高度並裁掉超出的部分，像一個只露出 3 格的小視窗。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200400"/>
            <a:ext cx="548640" cy="548640"/>
          </a:xfrm>
          <a:prstGeom prst="ellipse">
            <a:avLst/>
          </a:prstGeom>
          <a:solidFill>
            <a:srgbClr val="FFC107"/>
          </a:solidFill>
          <a:ln/>
          <a:effectLst>
            <a:outerShdw blurRad="76200" dist="254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731520" y="3200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020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1463040" y="315468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 err="1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符號</a:t>
            </a:r>
            <a:r>
              <a:rPr lang="zh-TW" altLang="en-US" sz="17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傳送</a:t>
            </a:r>
            <a:r>
              <a:rPr lang="en-US" sz="17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帶 translateY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63040" y="3529584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reel-strip 是一長條符號；用 transform: translateY 上下位移，就是「轉動」。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251960"/>
            <a:ext cx="548640" cy="548640"/>
          </a:xfrm>
          <a:prstGeom prst="ellipse">
            <a:avLst/>
          </a:prstGeom>
          <a:solidFill>
            <a:srgbClr val="FFC107"/>
          </a:solidFill>
          <a:ln/>
          <a:effectLst>
            <a:outerShdw blurRad="76200" dist="254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731520" y="4251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020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1463040" y="420624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控</a:t>
            </a:r>
            <a:r>
              <a:rPr lang="zh-TW" altLang="en-US" sz="17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</a:t>
            </a:r>
            <a:r>
              <a:rPr lang="en-US" sz="1700" b="1" dirty="0" err="1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</a:t>
            </a:r>
            <a:r>
              <a:rPr lang="zh-TW" altLang="en-US" sz="17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63040" y="4581144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先瞬間移到最下方，再用 transition 滑回定點，做出轉動過程。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31520" y="5303520"/>
            <a:ext cx="548640" cy="548640"/>
          </a:xfrm>
          <a:prstGeom prst="ellipse">
            <a:avLst/>
          </a:prstGeom>
          <a:solidFill>
            <a:srgbClr val="FFC107"/>
          </a:solidFill>
          <a:ln/>
          <a:effectLst>
            <a:outerShdw blurRad="76200" dist="254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731520" y="5303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020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1463040" y="525780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 err="1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依序停</a:t>
            </a:r>
            <a:r>
              <a:rPr lang="zh-TW" altLang="en-US" sz="1700" b="1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止轉動     </a:t>
            </a:r>
            <a:r>
              <a:rPr lang="zh-TW" altLang="en-US" sz="1600" dirty="0">
                <a:solidFill>
                  <a:schemeClr val="bg1"/>
                </a:solidFill>
                <a:hlinkClick r:id="rId4" action="ppaction://hlinkfile"/>
              </a:rPr>
              <a:t>▶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63040" y="5632704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每一輪的動畫時間比前一輪多一點，就有了「左到右一個一個停」的節奏。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001000" y="2084832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🍋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8001000" y="2739006"/>
            <a:ext cx="2103120" cy="2057400"/>
          </a:xfrm>
          <a:prstGeom prst="roundRect">
            <a:avLst>
              <a:gd name="adj" fmla="val 2667"/>
            </a:avLst>
          </a:prstGeom>
          <a:solidFill>
            <a:srgbClr val="0A1B33"/>
          </a:solidFill>
          <a:ln w="3175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8024909" y="274320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🍒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8001000" y="342900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7️⃣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8048818" y="4110606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E8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🃏</a:t>
            </a:r>
            <a:endParaRPr lang="en-US" sz="3000" dirty="0"/>
          </a:p>
        </p:txBody>
      </p:sp>
      <p:sp>
        <p:nvSpPr>
          <p:cNvPr id="25" name="Shape 23"/>
          <p:cNvSpPr/>
          <p:nvPr/>
        </p:nvSpPr>
        <p:spPr>
          <a:xfrm>
            <a:off x="10424160" y="2743200"/>
            <a:ext cx="0" cy="2057400"/>
          </a:xfrm>
          <a:prstGeom prst="line">
            <a:avLst/>
          </a:prstGeom>
          <a:noFill/>
          <a:ln w="25400">
            <a:solidFill>
              <a:srgbClr val="F5D77A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10515600" y="354330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5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translateY ↑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80960" y="500176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overflow: hidden 窗口只露出 3 格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789920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FFC107"/>
                </a:solidFill>
                <a:latin typeface="+mj-ea"/>
                <a:ea typeface="+mj-ea"/>
              </a:rPr>
              <a:t>網頁設計 ④　其他設計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78992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1" dirty="0" err="1">
                <a:solidFill>
                  <a:srgbClr val="F5D77A"/>
                </a:solidFill>
                <a:latin typeface="+mj-ea"/>
                <a:ea typeface="+mj-ea"/>
              </a:rPr>
              <a:t>兩個讓操作更順手的小設計</a:t>
            </a:r>
            <a:endParaRPr sz="1700" b="0" i="1" dirty="0">
              <a:solidFill>
                <a:srgbClr val="F5D77A"/>
              </a:solidFill>
              <a:latin typeface="+mj-ea"/>
              <a:ea typeface="+mj-ea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70560" y="2148840"/>
            <a:ext cx="5212080" cy="3429000"/>
          </a:xfrm>
          <a:prstGeom prst="roundRect">
            <a:avLst/>
          </a:prstGeom>
          <a:solidFill>
            <a:srgbClr val="0A1B33"/>
          </a:solidFill>
          <a:ln w="19050">
            <a:solidFill>
              <a:srgbClr val="FFC1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j-ea"/>
              <a:ea typeface="+mj-e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900" b="1" i="0" dirty="0">
                <a:solidFill>
                  <a:srgbClr val="FFC107"/>
                </a:solidFill>
                <a:latin typeface="+mj-ea"/>
                <a:ea typeface="+mj-ea"/>
              </a:rPr>
              <a:t>📋  </a:t>
            </a:r>
            <a:r>
              <a:rPr sz="1900" b="1" i="0" dirty="0" err="1">
                <a:solidFill>
                  <a:srgbClr val="FFC107"/>
                </a:solidFill>
                <a:latin typeface="+mj-ea"/>
                <a:ea typeface="+mj-ea"/>
              </a:rPr>
              <a:t>賠付表彈窗</a:t>
            </a:r>
            <a:r>
              <a:rPr sz="1900" b="1" i="0" dirty="0">
                <a:solidFill>
                  <a:srgbClr val="FFC107"/>
                </a:solidFill>
                <a:latin typeface="+mj-ea"/>
                <a:ea typeface="+mj-ea"/>
              </a:rPr>
              <a:t>（&lt;dialog&gt;）</a:t>
            </a:r>
            <a:r>
              <a:rPr lang="zh-TW" altLang="en-US" dirty="0">
                <a:solidFill>
                  <a:schemeClr val="bg1"/>
                </a:solidFill>
                <a:hlinkClick r:id="rId2" action="ppaction://hlinkfile"/>
              </a:rPr>
              <a:t> </a:t>
            </a:r>
            <a:r>
              <a:rPr lang="zh-TW" altLang="en-US" dirty="0">
                <a:solidFill>
                  <a:schemeClr val="bg1"/>
                </a:solidFill>
                <a:hlinkClick r:id="rId3" action="ppaction://hlinkfile"/>
              </a:rPr>
              <a:t>▶</a:t>
            </a:r>
            <a:endParaRPr sz="1900" b="1" i="0" dirty="0">
              <a:solidFill>
                <a:srgbClr val="FFC107"/>
              </a:solidFill>
              <a:latin typeface="+mj-ea"/>
              <a:ea typeface="+mj-ea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51560" y="3108960"/>
            <a:ext cx="4526280" cy="9723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dirty="0">
                <a:solidFill>
                  <a:srgbClr val="F5D77A"/>
                </a:solidFill>
                <a:latin typeface="+mj-ea"/>
                <a:ea typeface="+mj-ea"/>
              </a:rPr>
              <a:t>•  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用 &lt;dialog&gt; 的 </a:t>
            </a:r>
            <a:r>
              <a:rPr sz="1500" dirty="0" err="1">
                <a:solidFill>
                  <a:srgbClr val="E8ECF3"/>
                </a:solidFill>
                <a:latin typeface="+mj-ea"/>
                <a:ea typeface="+mj-ea"/>
              </a:rPr>
              <a:t>showModal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() </a:t>
            </a:r>
            <a:r>
              <a:rPr sz="1500" dirty="0" err="1">
                <a:solidFill>
                  <a:srgbClr val="E8ECF3"/>
                </a:solidFill>
                <a:latin typeface="+mj-ea"/>
                <a:ea typeface="+mj-ea"/>
              </a:rPr>
              <a:t>打開賠付表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。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dirty="0">
                <a:solidFill>
                  <a:srgbClr val="F5D77A"/>
                </a:solidFill>
                <a:latin typeface="+mj-ea"/>
                <a:ea typeface="+mj-ea"/>
              </a:rPr>
              <a:t>•  </a:t>
            </a:r>
            <a:r>
              <a:rPr sz="1500" dirty="0" err="1">
                <a:solidFill>
                  <a:srgbClr val="E8ECF3"/>
                </a:solidFill>
                <a:latin typeface="+mj-ea"/>
                <a:ea typeface="+mj-ea"/>
              </a:rPr>
              <a:t>瀏覽器自動置中，並加上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 ::backdrop </a:t>
            </a:r>
            <a:r>
              <a:rPr sz="1500" dirty="0" err="1">
                <a:solidFill>
                  <a:srgbClr val="E8ECF3"/>
                </a:solidFill>
                <a:latin typeface="+mj-ea"/>
                <a:ea typeface="+mj-ea"/>
              </a:rPr>
              <a:t>半透明遮罩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。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dirty="0">
                <a:solidFill>
                  <a:srgbClr val="F5D77A"/>
                </a:solidFill>
                <a:latin typeface="+mj-ea"/>
                <a:ea typeface="+mj-ea"/>
              </a:rPr>
              <a:t>•  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按 </a:t>
            </a:r>
            <a:r>
              <a:rPr lang="en-US" sz="1500" dirty="0">
                <a:solidFill>
                  <a:srgbClr val="E8ECF3"/>
                </a:solidFill>
                <a:latin typeface="+mj-ea"/>
                <a:ea typeface="+mj-ea"/>
              </a:rPr>
              <a:t>close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 </a:t>
            </a:r>
            <a:r>
              <a:rPr sz="1500" dirty="0" err="1">
                <a:solidFill>
                  <a:srgbClr val="E8ECF3"/>
                </a:solidFill>
                <a:latin typeface="+mj-ea"/>
                <a:ea typeface="+mj-ea"/>
              </a:rPr>
              <a:t>就能關閉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2" y="2148840"/>
            <a:ext cx="5212080" cy="3429000"/>
          </a:xfrm>
          <a:prstGeom prst="roundRect">
            <a:avLst/>
          </a:prstGeom>
          <a:solidFill>
            <a:srgbClr val="0A1B33"/>
          </a:solidFill>
          <a:ln w="19050">
            <a:solidFill>
              <a:srgbClr val="FFC1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j-ea"/>
              <a:ea typeface="+mj-ea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29400" y="2423160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900" b="1" i="0" dirty="0">
                <a:solidFill>
                  <a:srgbClr val="FFC107"/>
                </a:solidFill>
                <a:latin typeface="+mj-ea"/>
                <a:ea typeface="+mj-ea"/>
              </a:rPr>
              <a:t>💰  按「+」</a:t>
            </a:r>
            <a:r>
              <a:rPr sz="1900" b="1" i="0" dirty="0" err="1">
                <a:solidFill>
                  <a:srgbClr val="FFC107"/>
                </a:solidFill>
                <a:latin typeface="+mj-ea"/>
                <a:ea typeface="+mj-ea"/>
              </a:rPr>
              <a:t>增加下注金額</a:t>
            </a:r>
            <a:r>
              <a:rPr lang="zh-TW" altLang="en-US" sz="1900" b="1" i="0" dirty="0">
                <a:solidFill>
                  <a:srgbClr val="FFC107"/>
                </a:solidFill>
                <a:latin typeface="+mj-ea"/>
                <a:ea typeface="+mj-ea"/>
              </a:rPr>
              <a:t> </a:t>
            </a:r>
            <a:r>
              <a:rPr lang="zh-TW" altLang="en-US" sz="2000" dirty="0">
                <a:solidFill>
                  <a:schemeClr val="bg1"/>
                </a:solidFill>
                <a:hlinkClick r:id="rId4" action="ppaction://hlinkfile"/>
              </a:rPr>
              <a:t>▶</a:t>
            </a:r>
            <a:endParaRPr sz="1900" b="1" i="0" dirty="0">
              <a:solidFill>
                <a:srgbClr val="FFC107"/>
              </a:solidFill>
              <a:latin typeface="+mj-ea"/>
              <a:ea typeface="+mj-e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75120" y="3108960"/>
            <a:ext cx="4526280" cy="9723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dirty="0">
                <a:solidFill>
                  <a:srgbClr val="F5D77A"/>
                </a:solidFill>
                <a:latin typeface="+mj-ea"/>
                <a:ea typeface="+mj-ea"/>
              </a:rPr>
              <a:t>•  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點「+」</a:t>
            </a:r>
            <a:r>
              <a:rPr lang="zh-TW" altLang="en-US" sz="1500" dirty="0">
                <a:solidFill>
                  <a:srgbClr val="E8ECF3"/>
                </a:solidFill>
                <a:latin typeface="+mj-ea"/>
                <a:ea typeface="+mj-ea"/>
              </a:rPr>
              <a:t>改變</a:t>
            </a:r>
            <a:r>
              <a:rPr sz="1500" dirty="0" err="1">
                <a:solidFill>
                  <a:srgbClr val="E8ECF3"/>
                </a:solidFill>
                <a:latin typeface="+mj-ea"/>
                <a:ea typeface="+mj-ea"/>
              </a:rPr>
              <a:t>目前的下注金額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。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dirty="0">
                <a:solidFill>
                  <a:srgbClr val="F5D77A"/>
                </a:solidFill>
                <a:latin typeface="+mj-ea"/>
                <a:ea typeface="+mj-ea"/>
              </a:rPr>
              <a:t>•  </a:t>
            </a:r>
            <a:r>
              <a:rPr sz="1500" dirty="0" err="1">
                <a:solidFill>
                  <a:srgbClr val="E8ECF3"/>
                </a:solidFill>
                <a:latin typeface="+mj-ea"/>
                <a:ea typeface="+mj-ea"/>
              </a:rPr>
              <a:t>小於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 500 就 +50；到 500 </a:t>
            </a:r>
            <a:r>
              <a:rPr sz="1500" dirty="0" err="1">
                <a:solidFill>
                  <a:srgbClr val="E8ECF3"/>
                </a:solidFill>
                <a:latin typeface="+mj-ea"/>
                <a:ea typeface="+mj-ea"/>
              </a:rPr>
              <a:t>後再按就歸回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 50。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dirty="0">
                <a:solidFill>
                  <a:srgbClr val="F5D77A"/>
                </a:solidFill>
                <a:latin typeface="+mj-ea"/>
                <a:ea typeface="+mj-ea"/>
              </a:rPr>
              <a:t>•  </a:t>
            </a:r>
            <a:r>
              <a:rPr sz="1500" dirty="0" err="1">
                <a:solidFill>
                  <a:srgbClr val="E8ECF3"/>
                </a:solidFill>
                <a:latin typeface="+mj-ea"/>
                <a:ea typeface="+mj-ea"/>
              </a:rPr>
              <a:t>把新金額寫回畫面上的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 #</a:t>
            </a:r>
            <a:r>
              <a:rPr sz="1500" dirty="0" err="1">
                <a:solidFill>
                  <a:srgbClr val="E8ECF3"/>
                </a:solidFill>
                <a:latin typeface="+mj-ea"/>
                <a:ea typeface="+mj-ea"/>
              </a:rPr>
              <a:t>betAmount</a:t>
            </a:r>
            <a:r>
              <a:rPr sz="1500" dirty="0">
                <a:solidFill>
                  <a:srgbClr val="E8ECF3"/>
                </a:solidFill>
                <a:latin typeface="+mj-ea"/>
                <a:ea typeface="+mj-ea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5010912"/>
            <a:ext cx="45262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 dirty="0">
                <a:solidFill>
                  <a:srgbClr val="9BA7BC"/>
                </a:solidFill>
                <a:latin typeface="+mj-ea"/>
                <a:ea typeface="+mj-ea"/>
              </a:rPr>
              <a:t>循環選注：50 → 100 → … → 500 → 50</a:t>
            </a:r>
          </a:p>
        </p:txBody>
      </p:sp>
    </p:spTree>
    <p:extLst>
      <p:ext uri="{BB962C8B-B14F-4D97-AF65-F5344CB8AC3E}">
        <p14:creationId xmlns:p14="http://schemas.microsoft.com/office/powerpoint/2010/main" val="32634036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01534" y="2832543"/>
            <a:ext cx="52907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8800" b="1" dirty="0">
                <a:solidFill>
                  <a:srgbClr val="FFC107"/>
                </a:solidFill>
                <a:latin typeface="Cambria" pitchFamily="34" charset="0"/>
              </a:rPr>
              <a:t>謝謝收看</a:t>
            </a:r>
            <a:endParaRPr lang="en-US" sz="8800" dirty="0"/>
          </a:p>
        </p:txBody>
      </p:sp>
    </p:spTree>
    <p:extLst>
      <p:ext uri="{BB962C8B-B14F-4D97-AF65-F5344CB8AC3E}">
        <p14:creationId xmlns:p14="http://schemas.microsoft.com/office/powerpoint/2010/main" val="2648691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</TotalTime>
  <Words>382</Words>
  <Application>Microsoft Office PowerPoint</Application>
  <PresentationFormat>寬螢幕</PresentationFormat>
  <Paragraphs>78</Paragraphs>
  <Slides>8</Slides>
  <Notes>6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翔年 莊</cp:lastModifiedBy>
  <cp:revision>30</cp:revision>
  <dcterms:created xsi:type="dcterms:W3CDTF">2026-07-22T04:06:47Z</dcterms:created>
  <dcterms:modified xsi:type="dcterms:W3CDTF">2026-07-23T14:47:00Z</dcterms:modified>
</cp:coreProperties>
</file>