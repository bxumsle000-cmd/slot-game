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6" r:id="rId4"/>
    <p:sldId id="258" r:id="rId5"/>
    <p:sldId id="264" r:id="rId6"/>
    <p:sldId id="259" r:id="rId7"/>
    <p:sldId id="265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9332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21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4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video/desposit_false.mp4" TargetMode="External"/><Relationship Id="rId2" Type="http://schemas.openxmlformats.org/officeDocument/2006/relationships/hyperlink" Target="video/spin.mp4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video/hidden.mp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video/slow.mp4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video/dialog.mp4" TargetMode="External"/><Relationship Id="rId2" Type="http://schemas.openxmlformats.org/officeDocument/2006/relationships/hyperlink" Target="video/overflow%20hidden%20%20%20.mp4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video/betBtn.mp4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40484" y="914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A1B33"/>
          </a:solidFill>
          <a:ln w="25400">
            <a:solidFill>
              <a:srgbClr val="FFC107"/>
            </a:solidFill>
            <a:prstDash val="solid"/>
          </a:ln>
          <a:effectLst>
            <a:outerShdw blurRad="127000" dist="50800" dir="5400000" algn="bl" rotWithShape="0">
              <a:srgbClr val="FFC107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040484" y="91440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7️⃣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713836" y="914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A1B33"/>
          </a:solidFill>
          <a:ln w="25400">
            <a:solidFill>
              <a:srgbClr val="FFC107"/>
            </a:solidFill>
            <a:prstDash val="solid"/>
          </a:ln>
          <a:effectLst>
            <a:outerShdw blurRad="127000" dist="50800" dir="5400000" algn="bl" rotWithShape="0">
              <a:srgbClr val="FFC107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13836" y="91440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🍒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387188" y="914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A1B33"/>
          </a:solidFill>
          <a:ln w="25400">
            <a:solidFill>
              <a:srgbClr val="FFC107"/>
            </a:solidFill>
            <a:prstDash val="solid"/>
          </a:ln>
          <a:effectLst>
            <a:outerShdw blurRad="127000" dist="50800" dir="5400000" algn="bl" rotWithShape="0">
              <a:srgbClr val="FFC107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87188" y="91440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TW" sz="44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060540" y="914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A1B33"/>
          </a:solidFill>
          <a:ln w="25400">
            <a:solidFill>
              <a:srgbClr val="FFC107"/>
            </a:solidFill>
            <a:prstDash val="solid"/>
          </a:ln>
          <a:effectLst>
            <a:outerShdw blurRad="127000" dist="50800" dir="5400000" algn="bl" rotWithShape="0">
              <a:srgbClr val="FFC107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60540" y="91440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🍋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8733892" y="914400"/>
            <a:ext cx="1417320" cy="1600200"/>
          </a:xfrm>
          <a:prstGeom prst="roundRect">
            <a:avLst>
              <a:gd name="adj" fmla="val 7742"/>
            </a:avLst>
          </a:prstGeom>
          <a:solidFill>
            <a:srgbClr val="0A1B33"/>
          </a:solidFill>
          <a:ln w="25400">
            <a:solidFill>
              <a:srgbClr val="FFC107"/>
            </a:solidFill>
            <a:prstDash val="solid"/>
          </a:ln>
          <a:effectLst>
            <a:outerShdw blurRad="127000" dist="50800" dir="5400000" algn="bl" rotWithShape="0">
              <a:srgbClr val="FFC107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33892" y="914400"/>
            <a:ext cx="14173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05" y="3337561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⭐ GOLD SLOT ⭐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0" y="4601361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老虎機網頁</a:t>
            </a:r>
            <a:r>
              <a:rPr lang="en-US" sz="24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CSS / JS </a:t>
            </a:r>
            <a:r>
              <a:rPr lang="en-US" sz="2400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動機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 err="1">
                <a:solidFill>
                  <a:srgbClr val="F5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為什麼選「老虎機」來</a:t>
            </a:r>
            <a:r>
              <a:rPr lang="zh-TW" altLang="en-US" sz="2000" i="1" dirty="0">
                <a:solidFill>
                  <a:srgbClr val="F5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</a:t>
            </a:r>
            <a:r>
              <a:rPr lang="en-US" sz="2000" i="1" dirty="0">
                <a:solidFill>
                  <a:srgbClr val="F5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和 JS？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450592"/>
            <a:ext cx="777240" cy="777240"/>
          </a:xfrm>
          <a:prstGeom prst="ellipse">
            <a:avLst/>
          </a:prstGeom>
          <a:solidFill>
            <a:srgbClr val="FFC107"/>
          </a:solidFill>
          <a:ln/>
          <a:effectLst>
            <a:outerShdw blurRad="76200" dist="254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505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20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870" dirty="0"/>
          </a:p>
        </p:txBody>
      </p:sp>
      <p:sp>
        <p:nvSpPr>
          <p:cNvPr id="6" name="Text 4"/>
          <p:cNvSpPr/>
          <p:nvPr/>
        </p:nvSpPr>
        <p:spPr>
          <a:xfrm>
            <a:off x="1783080" y="24323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畫面元素豐富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834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轉輪、下注、Spin</a:t>
            </a:r>
            <a:r>
              <a:rPr lang="en-US" sz="150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按鈕、彈出式賠付表</a:t>
            </a:r>
            <a:r>
              <a:rPr lang="en-US" sz="150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968"/>
            <a:ext cx="777240" cy="777240"/>
          </a:xfrm>
          <a:prstGeom prst="ellipse">
            <a:avLst/>
          </a:prstGeom>
          <a:solidFill>
            <a:srgbClr val="FFC107"/>
          </a:solidFill>
          <a:ln/>
          <a:effectLst>
            <a:outerShdw blurRad="76200" dist="254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149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20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</a:t>
            </a:r>
            <a:endParaRPr lang="en-US" sz="1870" dirty="0"/>
          </a:p>
        </p:txBody>
      </p:sp>
      <p:sp>
        <p:nvSpPr>
          <p:cNvPr id="14" name="Text 12"/>
          <p:cNvSpPr/>
          <p:nvPr/>
        </p:nvSpPr>
        <p:spPr>
          <a:xfrm>
            <a:off x="1783080" y="4096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有互動與規則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83080" y="44990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下注、Spin、判斷中獎、更新餘額 —— 練</a:t>
            </a:r>
            <a:r>
              <a:rPr lang="zh-TW" altLang="en-US" sz="150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習</a:t>
            </a:r>
            <a:r>
              <a:rPr lang="en-US" sz="150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與 DOM 操作。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4F91808A-E238-4862-9F63-4328BACC6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5614"/>
            <a:ext cx="12192000" cy="4759228"/>
          </a:xfrm>
          <a:prstGeom prst="rect">
            <a:avLst/>
          </a:prstGeom>
        </p:spPr>
      </p:pic>
      <p:sp>
        <p:nvSpPr>
          <p:cNvPr id="16" name="Text 0">
            <a:extLst>
              <a:ext uri="{FF2B5EF4-FFF2-40B4-BE49-F238E27FC236}">
                <a16:creationId xmlns:a16="http://schemas.microsoft.com/office/drawing/2014/main" id="{9907D68A-FC43-4E13-A35E-5BD387F4C61C}"/>
              </a:ext>
            </a:extLst>
          </p:cNvPr>
          <p:cNvSpPr/>
          <p:nvPr/>
        </p:nvSpPr>
        <p:spPr>
          <a:xfrm>
            <a:off x="287742" y="15897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4000" b="1" dirty="0">
                <a:solidFill>
                  <a:srgbClr val="FFC107"/>
                </a:solidFill>
                <a:latin typeface="Cambria" pitchFamily="34" charset="0"/>
              </a:rPr>
              <a:t>遊戲規則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41915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網頁設計 ①　整體架構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166360" cy="3200400"/>
          </a:xfrm>
          <a:prstGeom prst="roundRect">
            <a:avLst>
              <a:gd name="adj" fmla="val 2857"/>
            </a:avLst>
          </a:prstGeom>
          <a:solidFill>
            <a:srgbClr val="0A1B33"/>
          </a:solidFill>
          <a:ln w="19050">
            <a:solidFill>
              <a:srgbClr val="FFC107"/>
            </a:solidFill>
            <a:prstDash val="solid"/>
          </a:ln>
          <a:effectLst>
            <a:outerShdw blurRad="1016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505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</a:t>
            </a:r>
            <a:r>
              <a:rPr lang="en-US" sz="2000" b="1" dirty="0" err="1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前端（HTML</a:t>
            </a:r>
            <a:r>
              <a:rPr lang="zh-TW" alt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TW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r>
              <a:rPr lang="zh-TW" alt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altLang="zh-TW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r>
              <a:rPr lang="en-US" sz="2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31089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排版 + Bootstrap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做轉輪窗口與轉動動畫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</a:t>
            </a:r>
            <a:r>
              <a:rPr lang="en-US" sz="1500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點擊、呼叫</a:t>
            </a:r>
            <a:r>
              <a:rPr 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把回傳結果</a:t>
            </a:r>
            <a:r>
              <a:rPr lang="zh-TW" alt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更新於</a:t>
            </a:r>
            <a:r>
              <a:rPr lang="en-US" sz="1500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2194560"/>
            <a:ext cx="5166360" cy="3200400"/>
          </a:xfrm>
          <a:prstGeom prst="roundRect">
            <a:avLst>
              <a:gd name="adj" fmla="val 2857"/>
            </a:avLst>
          </a:prstGeom>
          <a:solidFill>
            <a:srgbClr val="0A1B33"/>
          </a:solidFill>
          <a:ln w="19050">
            <a:solidFill>
              <a:srgbClr val="F5D77A"/>
            </a:solidFill>
            <a:prstDash val="solid"/>
          </a:ln>
          <a:effectLst>
            <a:outerShdw blurRad="1016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Text 6"/>
          <p:cNvSpPr/>
          <p:nvPr/>
        </p:nvSpPr>
        <p:spPr>
          <a:xfrm>
            <a:off x="6675120" y="24505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後端（Spring Boot）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20840" y="31089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</a:t>
            </a:r>
            <a:r>
              <a:rPr 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 /api/deposit 餘額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POST /api/spin </a:t>
            </a:r>
            <a:r>
              <a:rPr lang="zh-TW" alt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</a:t>
            </a:r>
            <a:r>
              <a:rPr lang="en-US" sz="1500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zh-TW" altLang="en-US" sz="15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</a:t>
            </a:r>
            <a:r>
              <a:rPr lang="en-US" sz="1500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算盤面與中獎金額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流程：點 Spin → 前端 fetch /api/spin → 後端回傳盤面與贏分 → 前端播動畫 → 更新餘額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C107"/>
                </a:solidFill>
                <a:latin typeface="Cambria"/>
              </a:rPr>
              <a:t>網頁設計 ②　按下 Spin 後的流程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5156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1700" b="0" i="1" dirty="0">
                <a:solidFill>
                  <a:srgbClr val="F5D77A"/>
                </a:solidFill>
                <a:latin typeface="Calibri"/>
              </a:rPr>
              <a:t>初始值設定</a:t>
            </a:r>
            <a:r>
              <a:rPr lang="en-US" altLang="zh-TW" sz="1700" b="0" i="1" dirty="0">
                <a:solidFill>
                  <a:srgbClr val="F5D77A"/>
                </a:solidFill>
                <a:latin typeface="Calibri"/>
              </a:rPr>
              <a:t>1000</a:t>
            </a:r>
            <a:r>
              <a:rPr lang="zh-TW" altLang="en-US" sz="1700" b="0" i="1" dirty="0">
                <a:solidFill>
                  <a:srgbClr val="F5D77A"/>
                </a:solidFill>
                <a:latin typeface="Calibri"/>
              </a:rPr>
              <a:t>，每次重整網頁重置</a:t>
            </a:r>
            <a:endParaRPr lang="en-US" altLang="zh-TW" sz="1700" b="0" i="1" dirty="0">
              <a:solidFill>
                <a:srgbClr val="F5D77A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51560" y="2240280"/>
            <a:ext cx="0" cy="3657600"/>
          </a:xfrm>
          <a:prstGeom prst="line">
            <a:avLst/>
          </a:prstGeom>
          <a:ln w="19050">
            <a:solidFill>
              <a:srgbClr val="F5D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020E2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13178"/>
            <a:ext cx="1033272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TW" altLang="en-US" sz="1650" b="1" dirty="0">
                <a:solidFill>
                  <a:srgbClr val="E8ECF3"/>
                </a:solidFill>
                <a:latin typeface="Calibri"/>
              </a:rPr>
              <a:t>按下</a:t>
            </a:r>
            <a:r>
              <a:rPr lang="en-US" altLang="zh-TW" sz="1650" b="1" dirty="0">
                <a:solidFill>
                  <a:srgbClr val="E8ECF3"/>
                </a:solidFill>
                <a:latin typeface="Calibri"/>
              </a:rPr>
              <a:t>Spin</a:t>
            </a:r>
            <a:r>
              <a:rPr sz="1650" b="1" i="0" dirty="0">
                <a:solidFill>
                  <a:srgbClr val="E8ECF3"/>
                </a:solidFill>
                <a:latin typeface="Calibri"/>
              </a:rPr>
              <a:t>　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開始程式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。</a:t>
            </a:r>
            <a:r>
              <a:rPr lang="zh-TW" altLang="en-US" sz="1400" dirty="0">
                <a:solidFill>
                  <a:srgbClr val="9BA7BC"/>
                </a:solidFill>
              </a:rPr>
              <a:t> </a:t>
            </a:r>
            <a:r>
              <a:rPr lang="zh-TW" altLang="en-US" sz="1400" dirty="0">
                <a:solidFill>
                  <a:schemeClr val="bg1"/>
                </a:solidFill>
                <a:hlinkClick r:id="rId2" action="ppaction://hlinkfile"/>
              </a:rPr>
              <a:t>▶</a:t>
            </a:r>
            <a:endParaRPr sz="14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Oval 6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 dirty="0">
                <a:solidFill>
                  <a:srgbClr val="020E2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44698"/>
            <a:ext cx="1033272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dirty="0" err="1">
                <a:solidFill>
                  <a:srgbClr val="E8ECF3"/>
                </a:solidFill>
                <a:latin typeface="Calibri"/>
              </a:rPr>
              <a:t>呼叫後端</a:t>
            </a:r>
            <a:r>
              <a:rPr sz="1650" b="1" i="0" dirty="0">
                <a:solidFill>
                  <a:srgbClr val="E8ECF3"/>
                </a:solidFill>
                <a:latin typeface="Calibri"/>
              </a:rPr>
              <a:t>　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await fetch POST /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api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/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spin?betAmount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=… ，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把下注金額送出去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，並收到結果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。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1500" b="1" dirty="0">
                <a:solidFill>
                  <a:srgbClr val="020E20"/>
                </a:solidFill>
                <a:latin typeface="Calibri"/>
              </a:rPr>
              <a:t>3</a:t>
            </a:r>
            <a:endParaRPr sz="1500" b="1" dirty="0">
              <a:solidFill>
                <a:srgbClr val="020E2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8760" y="3576218"/>
            <a:ext cx="1033272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TW" altLang="en-US" sz="1650" b="1" i="0" dirty="0">
                <a:solidFill>
                  <a:srgbClr val="E8ECF3"/>
                </a:solidFill>
                <a:latin typeface="Calibri"/>
              </a:rPr>
              <a:t>扣除下注金額</a:t>
            </a:r>
            <a:r>
              <a:rPr sz="1650" b="1" i="0" dirty="0">
                <a:solidFill>
                  <a:srgbClr val="E8ECF3"/>
                </a:solidFill>
                <a:latin typeface="Calibri"/>
              </a:rPr>
              <a:t>　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畫面餘額先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扣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，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讓玩家看到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下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注金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額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已被扣掉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。</a:t>
            </a:r>
            <a:r>
              <a:rPr lang="en-US" altLang="zh-TW" sz="1400" b="0" i="0" dirty="0">
                <a:solidFill>
                  <a:srgbClr val="9BA7BC"/>
                </a:solidFill>
                <a:latin typeface="Calibri"/>
              </a:rPr>
              <a:t>(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下注金額最少</a:t>
            </a:r>
            <a:r>
              <a:rPr lang="en-US" altLang="zh-TW" sz="1400" b="0" i="0" dirty="0">
                <a:solidFill>
                  <a:srgbClr val="9BA7BC"/>
                </a:solidFill>
                <a:latin typeface="Calibri"/>
              </a:rPr>
              <a:t>50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，最多</a:t>
            </a:r>
            <a:r>
              <a:rPr lang="en-US" altLang="zh-TW" sz="1400" b="0" i="0" dirty="0">
                <a:solidFill>
                  <a:srgbClr val="9BA7BC"/>
                </a:solidFill>
                <a:latin typeface="Calibri"/>
              </a:rPr>
              <a:t>500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，可調整。</a:t>
            </a:r>
            <a:r>
              <a:rPr lang="en-US" altLang="zh-TW" sz="1400" b="0" i="0" dirty="0">
                <a:solidFill>
                  <a:srgbClr val="9BA7BC"/>
                </a:solidFill>
                <a:latin typeface="Calibri"/>
              </a:rPr>
              <a:t>)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  </a:t>
            </a:r>
            <a:endParaRPr sz="1400" b="0" i="0" dirty="0">
              <a:solidFill>
                <a:srgbClr val="9BA7BC"/>
              </a:solidFill>
              <a:latin typeface="Calibr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1500" b="1" dirty="0">
                <a:solidFill>
                  <a:srgbClr val="020E20"/>
                </a:solidFill>
                <a:latin typeface="Calibri"/>
              </a:rPr>
              <a:t>4</a:t>
            </a:r>
            <a:endParaRPr sz="1500" b="1" dirty="0">
              <a:solidFill>
                <a:srgbClr val="020E2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8760" y="4307738"/>
            <a:ext cx="1033272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 dirty="0" err="1">
                <a:solidFill>
                  <a:srgbClr val="E8ECF3"/>
                </a:solidFill>
                <a:latin typeface="Calibri"/>
              </a:rPr>
              <a:t>播轉輪動畫</a:t>
            </a:r>
            <a:r>
              <a:rPr sz="1650" b="1" i="0" dirty="0">
                <a:solidFill>
                  <a:srgbClr val="E8ECF3"/>
                </a:solidFill>
                <a:latin typeface="Calibri"/>
              </a:rPr>
              <a:t>　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五輪依序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跑動畫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。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1500" b="1" dirty="0">
                <a:solidFill>
                  <a:srgbClr val="020E20"/>
                </a:solidFill>
                <a:latin typeface="Calibri"/>
              </a:rPr>
              <a:t>5</a:t>
            </a:r>
            <a:endParaRPr sz="1500" b="1" dirty="0">
              <a:solidFill>
                <a:srgbClr val="020E2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5039258"/>
            <a:ext cx="1033272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 dirty="0" err="1">
                <a:solidFill>
                  <a:srgbClr val="E8ECF3"/>
                </a:solidFill>
                <a:latin typeface="Calibri"/>
              </a:rPr>
              <a:t>結算分數</a:t>
            </a:r>
            <a:r>
              <a:rPr sz="1650" b="1" i="0" dirty="0">
                <a:solidFill>
                  <a:srgbClr val="E8ECF3"/>
                </a:solidFill>
                <a:latin typeface="Calibri"/>
              </a:rPr>
              <a:t>　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顯示本局贏分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win，再更新成最終</a:t>
            </a:r>
            <a:r>
              <a:rPr lang="zh-TW" altLang="en-US" sz="1400" dirty="0">
                <a:solidFill>
                  <a:srgbClr val="9BA7BC"/>
                </a:solidFill>
              </a:rPr>
              <a:t>的餘額</a:t>
            </a:r>
            <a:r>
              <a:rPr sz="1400" b="0" i="0" dirty="0">
                <a:solidFill>
                  <a:srgbClr val="9BA7BC"/>
                </a:solidFill>
                <a:latin typeface="Calibri"/>
              </a:rPr>
              <a:t>。</a:t>
            </a:r>
            <a:r>
              <a:rPr lang="zh-TW" altLang="en-US" sz="1400" dirty="0">
                <a:solidFill>
                  <a:srgbClr val="9BA7BC"/>
                </a:solidFill>
              </a:rPr>
              <a:t> </a:t>
            </a:r>
            <a:r>
              <a:rPr lang="zh-TW" altLang="en-US" sz="1400" dirty="0">
                <a:solidFill>
                  <a:schemeClr val="bg1"/>
                </a:solidFill>
                <a:hlinkClick r:id="rId2" action="ppaction://hlinkfile"/>
              </a:rPr>
              <a:t>▶</a:t>
            </a:r>
            <a:endParaRPr sz="1400" b="0" i="0" dirty="0">
              <a:solidFill>
                <a:srgbClr val="9BA7BC"/>
              </a:solidFill>
              <a:latin typeface="Calibri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566928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1500" b="1" dirty="0">
                <a:solidFill>
                  <a:srgbClr val="020E20"/>
                </a:solidFill>
                <a:latin typeface="Calibri"/>
              </a:rPr>
              <a:t>6</a:t>
            </a:r>
            <a:endParaRPr sz="1500" b="1" dirty="0">
              <a:solidFill>
                <a:srgbClr val="020E2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5770778"/>
            <a:ext cx="10332720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50" b="1" i="0" dirty="0" err="1">
                <a:solidFill>
                  <a:srgbClr val="E8ECF3"/>
                </a:solidFill>
                <a:latin typeface="Calibri"/>
              </a:rPr>
              <a:t>顯示訊息</a:t>
            </a:r>
            <a:r>
              <a:rPr sz="1650" b="1" i="0" dirty="0">
                <a:solidFill>
                  <a:srgbClr val="E8ECF3"/>
                </a:solidFill>
                <a:latin typeface="Calibri"/>
              </a:rPr>
              <a:t>　</a:t>
            </a:r>
            <a:r>
              <a:rPr sz="1400" b="0" i="0" dirty="0" err="1">
                <a:solidFill>
                  <a:srgbClr val="9BA7BC"/>
                </a:solidFill>
                <a:latin typeface="Calibri"/>
              </a:rPr>
              <a:t>中獎顯示「恭喜中獎」否則「再接再厲</a:t>
            </a:r>
            <a:r>
              <a:rPr lang="zh-TW" altLang="en-US" sz="1400" b="0" i="0" dirty="0">
                <a:solidFill>
                  <a:srgbClr val="9BA7BC"/>
                </a:solidFill>
                <a:latin typeface="Calibri"/>
              </a:rPr>
              <a:t>。如果餘額不夠也會顯示餘額不足。  </a:t>
            </a:r>
            <a:r>
              <a:rPr lang="zh-TW" altLang="en-US" sz="1400" dirty="0">
                <a:solidFill>
                  <a:schemeClr val="bg1"/>
                </a:solidFill>
                <a:hlinkClick r:id="rId3" action="ppaction://hlinkfile"/>
              </a:rPr>
              <a:t>▶</a:t>
            </a:r>
            <a:endParaRPr sz="1400" b="0" i="0" dirty="0">
              <a:solidFill>
                <a:srgbClr val="9BA7B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1734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 err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網頁設計</a:t>
            </a:r>
            <a:r>
              <a:rPr lang="en-US" sz="3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zh-TW" altLang="en-US" dirty="0"/>
              <a:t> </a:t>
            </a:r>
            <a:r>
              <a:rPr lang="zh-TW" altLang="en-US" sz="3600" b="1" dirty="0">
                <a:solidFill>
                  <a:srgbClr val="FFC107"/>
                </a:solidFill>
                <a:latin typeface="Cambria" pitchFamily="34" charset="0"/>
              </a:rPr>
              <a:t>③ </a:t>
            </a:r>
            <a:r>
              <a:rPr lang="en-US" sz="36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　</a:t>
            </a:r>
            <a:r>
              <a:rPr lang="en-US" sz="3600" b="1" dirty="0" err="1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轉輪動畫原理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rgbClr val="FFC107"/>
          </a:solidFill>
          <a:ln/>
          <a:effectLst>
            <a:outerShdw blurRad="76200" dist="254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020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463040" y="21031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加入隨機符號 </a:t>
            </a:r>
            <a:r>
              <a:rPr lang="en-US" altLang="zh-TW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zh-TW" alt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overflow: hidden</a:t>
            </a:r>
            <a:r>
              <a:rPr lang="zh-TW" alt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zh-TW" altLang="en-US" dirty="0">
                <a:solidFill>
                  <a:srgbClr val="9BA7BC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  <a:hlinkClick r:id="rId3" action="ppaction://hlinkfile"/>
              </a:rPr>
              <a:t>▶</a:t>
            </a:r>
            <a:r>
              <a:rPr lang="zh-TW" alt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47802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reel-window 固定高度並裁掉超出的部分，像一個只露出 3 格的小視窗。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FFC107"/>
          </a:solidFill>
          <a:ln/>
          <a:effectLst>
            <a:outerShdw blurRad="76200" dist="254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020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463040" y="3154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符號</a:t>
            </a:r>
            <a:r>
              <a:rPr lang="zh-TW" alt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傳送</a:t>
            </a:r>
            <a:r>
              <a:rPr 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 translateY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52958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reel-strip 是一長條符號；用 transform: translateY 上下位移，就是「轉動」。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rgbClr val="FFC107"/>
          </a:solidFill>
          <a:ln/>
          <a:effectLst>
            <a:outerShdw blurRad="76200" dist="254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020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463040" y="4206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控</a:t>
            </a:r>
            <a:r>
              <a:rPr lang="zh-TW" alt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</a:t>
            </a:r>
            <a:r>
              <a:rPr lang="en-US" sz="1700" b="1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r>
              <a:rPr lang="zh-TW" alt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458114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先瞬間移到最下方，再用 transition 滑回定點，做出轉動過程。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303520"/>
            <a:ext cx="548640" cy="548640"/>
          </a:xfrm>
          <a:prstGeom prst="ellipse">
            <a:avLst/>
          </a:prstGeom>
          <a:solidFill>
            <a:srgbClr val="FFC107"/>
          </a:solidFill>
          <a:ln/>
          <a:effectLst>
            <a:outerShdw blurRad="76200" dist="254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020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463040" y="5257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 err="1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依序停</a:t>
            </a:r>
            <a:r>
              <a:rPr lang="zh-TW" altLang="en-US" sz="1700" b="1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止轉動     </a:t>
            </a:r>
            <a:r>
              <a:rPr lang="zh-TW" altLang="en-US" sz="1600" dirty="0">
                <a:solidFill>
                  <a:schemeClr val="bg1"/>
                </a:solidFill>
                <a:hlinkClick r:id="rId4" action="ppaction://hlinkfile"/>
              </a:rPr>
              <a:t>▶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563270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每一輪的動畫時間比前一輪多一點，就有了「左到右一個一個停」的節奏。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01000" y="208483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🍋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001000" y="2739006"/>
            <a:ext cx="2103120" cy="2057400"/>
          </a:xfrm>
          <a:prstGeom prst="roundRect">
            <a:avLst>
              <a:gd name="adj" fmla="val 2667"/>
            </a:avLst>
          </a:prstGeom>
          <a:solidFill>
            <a:srgbClr val="0A1B33"/>
          </a:solidFill>
          <a:ln w="3175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4909" y="2743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🍒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001000" y="34290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7️⃣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048818" y="411060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0424160" y="2743200"/>
            <a:ext cx="0" cy="2057400"/>
          </a:xfrm>
          <a:prstGeom prst="line">
            <a:avLst/>
          </a:prstGeom>
          <a:noFill/>
          <a:ln w="25400">
            <a:solidFill>
              <a:srgbClr val="F5D77A"/>
            </a:solidFill>
            <a:prstDash val="solid"/>
            <a:headEnd type="triangl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0515600" y="35433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translateY 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5001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hidden 窗口只露出 3 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7899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C107"/>
                </a:solidFill>
                <a:latin typeface="+mj-ea"/>
                <a:ea typeface="+mj-ea"/>
              </a:rPr>
              <a:t>網頁設計 ④　其他設計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7899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 dirty="0" err="1">
                <a:solidFill>
                  <a:srgbClr val="F5D77A"/>
                </a:solidFill>
                <a:latin typeface="+mj-ea"/>
                <a:ea typeface="+mj-ea"/>
              </a:rPr>
              <a:t>兩個讓操作更順手的小設計</a:t>
            </a:r>
            <a:endParaRPr sz="1700" b="0" i="1" dirty="0">
              <a:solidFill>
                <a:srgbClr val="F5D77A"/>
              </a:solidFill>
              <a:latin typeface="+mj-ea"/>
              <a:ea typeface="+mj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70560" y="2148840"/>
            <a:ext cx="5212080" cy="3429000"/>
          </a:xfrm>
          <a:prstGeom prst="roundRect">
            <a:avLst/>
          </a:prstGeom>
          <a:solidFill>
            <a:srgbClr val="0A1B33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46634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 i="0" dirty="0">
                <a:solidFill>
                  <a:srgbClr val="FFC107"/>
                </a:solidFill>
                <a:latin typeface="+mj-ea"/>
                <a:ea typeface="+mj-ea"/>
              </a:rPr>
              <a:t>📋  </a:t>
            </a:r>
            <a:r>
              <a:rPr sz="1900" b="1" i="0" dirty="0" err="1">
                <a:solidFill>
                  <a:srgbClr val="FFC107"/>
                </a:solidFill>
                <a:latin typeface="+mj-ea"/>
                <a:ea typeface="+mj-ea"/>
              </a:rPr>
              <a:t>賠付表彈窗</a:t>
            </a:r>
            <a:r>
              <a:rPr sz="1900" b="1" i="0" dirty="0">
                <a:solidFill>
                  <a:srgbClr val="FFC107"/>
                </a:solidFill>
                <a:latin typeface="+mj-ea"/>
                <a:ea typeface="+mj-ea"/>
              </a:rPr>
              <a:t>（&lt;dialog&gt;）</a:t>
            </a:r>
            <a:r>
              <a:rPr lang="zh-TW" altLang="en-US" dirty="0">
                <a:solidFill>
                  <a:schemeClr val="bg1"/>
                </a:solidFill>
                <a:hlinkClick r:id="rId2" action="ppaction://hlinkfile"/>
              </a:rPr>
              <a:t> </a:t>
            </a:r>
            <a:r>
              <a:rPr lang="zh-TW" altLang="en-US" dirty="0">
                <a:solidFill>
                  <a:schemeClr val="bg1"/>
                </a:solidFill>
                <a:hlinkClick r:id="rId3" action="ppaction://hlinkfile"/>
              </a:rPr>
              <a:t>▶</a:t>
            </a:r>
            <a:endParaRPr sz="1900" b="1" i="0" dirty="0">
              <a:solidFill>
                <a:srgbClr val="FFC107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0"/>
            <a:ext cx="4526280" cy="9723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dirty="0">
                <a:solidFill>
                  <a:srgbClr val="F5D77A"/>
                </a:solidFill>
                <a:latin typeface="+mj-ea"/>
                <a:ea typeface="+mj-ea"/>
              </a:rPr>
              <a:t>•  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用 &lt;dialog&gt; 的 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showModal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() 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打開賠付表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。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dirty="0">
                <a:solidFill>
                  <a:srgbClr val="F5D77A"/>
                </a:solidFill>
                <a:latin typeface="+mj-ea"/>
                <a:ea typeface="+mj-ea"/>
              </a:rPr>
              <a:t>•  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瀏覽器自動置中，並加上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 ::backdrop 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半透明遮罩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。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dirty="0">
                <a:solidFill>
                  <a:srgbClr val="F5D77A"/>
                </a:solidFill>
                <a:latin typeface="+mj-ea"/>
                <a:ea typeface="+mj-ea"/>
              </a:rPr>
              <a:t>•  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按 </a:t>
            </a:r>
            <a:r>
              <a:rPr lang="en-US" sz="1500" dirty="0">
                <a:solidFill>
                  <a:srgbClr val="E8ECF3"/>
                </a:solidFill>
                <a:latin typeface="+mj-ea"/>
                <a:ea typeface="+mj-ea"/>
              </a:rPr>
              <a:t>close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 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就能關閉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2" y="2148840"/>
            <a:ext cx="5212080" cy="3429000"/>
          </a:xfrm>
          <a:prstGeom prst="roundRect">
            <a:avLst/>
          </a:prstGeom>
          <a:solidFill>
            <a:srgbClr val="0A1B33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29400" y="2423160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 i="0" dirty="0">
                <a:solidFill>
                  <a:srgbClr val="FFC107"/>
                </a:solidFill>
                <a:latin typeface="+mj-ea"/>
                <a:ea typeface="+mj-ea"/>
              </a:rPr>
              <a:t>💰  按「+」</a:t>
            </a:r>
            <a:r>
              <a:rPr sz="1900" b="1" i="0" dirty="0" err="1">
                <a:solidFill>
                  <a:srgbClr val="FFC107"/>
                </a:solidFill>
                <a:latin typeface="+mj-ea"/>
                <a:ea typeface="+mj-ea"/>
              </a:rPr>
              <a:t>增加下注金額</a:t>
            </a:r>
            <a:r>
              <a:rPr lang="zh-TW" altLang="en-US" sz="1900" b="1" i="0" dirty="0">
                <a:solidFill>
                  <a:srgbClr val="FFC107"/>
                </a:solidFill>
                <a:latin typeface="+mj-ea"/>
                <a:ea typeface="+mj-ea"/>
              </a:rPr>
              <a:t> </a:t>
            </a:r>
            <a:r>
              <a:rPr lang="zh-TW" altLang="en-US" sz="2000" dirty="0">
                <a:solidFill>
                  <a:schemeClr val="bg1"/>
                </a:solidFill>
                <a:hlinkClick r:id="rId4" action="ppaction://hlinkfile"/>
              </a:rPr>
              <a:t>▶</a:t>
            </a:r>
            <a:endParaRPr sz="1900" b="1" i="0" dirty="0">
              <a:solidFill>
                <a:srgbClr val="FFC107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3108960"/>
            <a:ext cx="4526280" cy="9723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dirty="0">
                <a:solidFill>
                  <a:srgbClr val="F5D77A"/>
                </a:solidFill>
                <a:latin typeface="+mj-ea"/>
                <a:ea typeface="+mj-ea"/>
              </a:rPr>
              <a:t>•  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點「+」</a:t>
            </a:r>
            <a:r>
              <a:rPr lang="zh-TW" altLang="en-US" sz="1500" dirty="0">
                <a:solidFill>
                  <a:srgbClr val="E8ECF3"/>
                </a:solidFill>
                <a:latin typeface="+mj-ea"/>
                <a:ea typeface="+mj-ea"/>
              </a:rPr>
              <a:t>改變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目前的下注金額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。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dirty="0">
                <a:solidFill>
                  <a:srgbClr val="F5D77A"/>
                </a:solidFill>
                <a:latin typeface="+mj-ea"/>
                <a:ea typeface="+mj-ea"/>
              </a:rPr>
              <a:t>•  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小於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 500 就 +50；到 500 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後再按就歸回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 50。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dirty="0">
                <a:solidFill>
                  <a:srgbClr val="F5D77A"/>
                </a:solidFill>
                <a:latin typeface="+mj-ea"/>
                <a:ea typeface="+mj-ea"/>
              </a:rPr>
              <a:t>•  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把新金額寫回畫面上的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 #</a:t>
            </a:r>
            <a:r>
              <a:rPr sz="1500" dirty="0" err="1">
                <a:solidFill>
                  <a:srgbClr val="E8ECF3"/>
                </a:solidFill>
                <a:latin typeface="+mj-ea"/>
                <a:ea typeface="+mj-ea"/>
              </a:rPr>
              <a:t>betAmount</a:t>
            </a:r>
            <a:r>
              <a:rPr sz="1500" dirty="0">
                <a:solidFill>
                  <a:srgbClr val="E8ECF3"/>
                </a:solidFill>
                <a:latin typeface="+mj-ea"/>
                <a:ea typeface="+mj-ea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010912"/>
            <a:ext cx="4526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9BA7BC"/>
                </a:solidFill>
                <a:latin typeface="+mj-ea"/>
                <a:ea typeface="+mj-ea"/>
              </a:rPr>
              <a:t>循環選注：50 → 100 → … → 500 → 50</a:t>
            </a:r>
          </a:p>
        </p:txBody>
      </p:sp>
    </p:spTree>
    <p:extLst>
      <p:ext uri="{BB962C8B-B14F-4D97-AF65-F5344CB8AC3E}">
        <p14:creationId xmlns:p14="http://schemas.microsoft.com/office/powerpoint/2010/main" val="326340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1534" y="2832543"/>
            <a:ext cx="52907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8800" b="1" dirty="0">
                <a:solidFill>
                  <a:srgbClr val="FFC107"/>
                </a:solidFill>
                <a:latin typeface="Cambria" pitchFamily="34" charset="0"/>
              </a:rPr>
              <a:t>謝謝收看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648691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395</Words>
  <Application>Microsoft Office PowerPoint</Application>
  <PresentationFormat>寬螢幕</PresentationFormat>
  <Paragraphs>78</Paragraphs>
  <Slides>8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新細明體</vt:lpstr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28</cp:revision>
  <dcterms:created xsi:type="dcterms:W3CDTF">2026-07-22T04:06:47Z</dcterms:created>
  <dcterms:modified xsi:type="dcterms:W3CDTF">2026-07-23T06:40:13Z</dcterms:modified>
</cp:coreProperties>
</file>